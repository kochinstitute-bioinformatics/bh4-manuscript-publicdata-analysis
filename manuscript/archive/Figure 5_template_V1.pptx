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88"/>
  </p:normalViewPr>
  <p:slideViewPr>
    <p:cSldViewPr snapToGrid="0">
      <p:cViewPr>
        <p:scale>
          <a:sx n="114" d="100"/>
          <a:sy n="114" d="100"/>
        </p:scale>
        <p:origin x="14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59A7-DE45-5871-C4CB-EFE5A0CE3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F9EA-A75B-C099-5679-7DF84B17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A0D2-4DD9-1D2E-440E-3A3A0E1D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50F01-9564-740B-5E5D-DAD0F511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F128-BD31-D46E-E009-EC1C40ED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3F55-F340-BFF9-45A1-8E8317B0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55629-CB86-7DC9-EFAD-E7E76E36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B500-8ADF-030C-9343-3E5AD118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9C54B-AB6B-8A60-5EE0-02AF4BE7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F18A-BA6D-3607-4868-408FBB4A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1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4DE9-9AA2-883F-E643-D167FB3D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3E21-3372-534B-345C-9A284966C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C2C92-9F17-9F80-EE56-3A02DFC1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5F58-89FA-F5AA-ADD2-591CC105F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2EBA5-B915-AFF9-06D9-F76147D9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4451-9EE0-5A36-D893-6953D340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C21A-07A8-BA5D-D1EC-EA925E5E8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BADFF-5B94-15AB-55D9-71A679B6A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A85FF-A150-A653-C235-8F7DA5AD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9BEA7-4406-B8B0-9984-FB198583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55CF-764B-B9F2-1288-BEE75218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7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12C9-2431-DE10-4A01-8688E9B6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BFBCD-BC02-1FD1-46DE-392FDBF9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4BF11-687E-7284-5854-C28B4B272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546CD-67F6-1601-4F26-DFF434D1D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B62E6-3DEA-D102-EB2C-A9CEAEAAD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F6C57-286A-ECA3-EC10-1BE7F571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1E7F2-FA9A-346D-8ADF-7C1702AA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F92D9-1B06-E7F3-28A4-A50D1507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6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10ED-17B1-CB32-72D1-2CBE5D52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26B5F-23AA-93DC-FD35-B1BAD55B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09460-FB3E-5160-3843-ED26B209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D9911-9BB2-BF3E-7A2F-D30FB2DB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1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F4930-2C6C-D555-5306-BFE282D1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3BD50-700E-34DF-8BAA-2B985480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9F820-AAF4-5485-EA0A-BD638ABE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FD6B-AE8B-7B59-A410-9E3D8242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135EE-4AE9-A5AC-6EED-51E6760B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A54C2-9F08-87EF-A5D4-5F67DF0B8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A82CF-1501-18FB-C3AA-30F6A5BF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7448-9899-C844-75EE-F7D7C737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E554D-DC6E-1358-CBE5-3F0E78C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5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36B8-84A9-2946-D16B-DFEC8535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DBC81-F4F6-6792-7D60-80DD064FD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4AD8D-8336-D19D-F006-DFC20D50D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1727-52A7-96B5-560D-88B5240C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E51C2-9CF9-793C-472E-A8E3D8F4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D9877-96FE-749D-3331-6E90D6E7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4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9CEF-3B8D-1828-9BC8-A70CCF7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69037-43C9-38EC-6A23-CFE57538B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1952-D972-6390-5B5C-A00F9ECF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00D40-98FE-47A4-AF6D-CDF2AD44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40B15-FE70-2140-D6D1-22E46B7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4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F837E-5F49-E126-AE5D-39C6188BD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B033B-A0F1-AEE6-A578-2CECF4817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4242C-6422-A5E6-8920-CF0DA7DD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0828-8B6F-6B9E-86EA-16E5617E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545B-67ED-C0F0-0C28-C698D0C4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4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F0C50-A5B1-D2B0-49C4-506BC61B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4D5CD-54C7-4E35-6178-98ABAC6C5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E0DA-BBEC-5180-74B6-B1C33E50C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9264C-A3A2-0B43-84AD-5B51490C3FE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BD325-0723-A85E-319B-E752D1916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AF0F-6284-8F33-23BF-93EE087F5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0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D2FD-3F18-934B-1E78-D4553CD7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067556-3B68-6D88-8006-6E9AFCC1FE46}"/>
              </a:ext>
            </a:extLst>
          </p:cNvPr>
          <p:cNvSpPr/>
          <p:nvPr/>
        </p:nvSpPr>
        <p:spPr>
          <a:xfrm>
            <a:off x="1126524" y="347019"/>
            <a:ext cx="3262184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67255-844D-E5E1-20AE-950FD8E73B88}"/>
              </a:ext>
            </a:extLst>
          </p:cNvPr>
          <p:cNvSpPr/>
          <p:nvPr/>
        </p:nvSpPr>
        <p:spPr>
          <a:xfrm>
            <a:off x="4429897" y="347019"/>
            <a:ext cx="3171567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53E7CD-65D2-07FB-E26E-B788AC28E6E0}"/>
              </a:ext>
            </a:extLst>
          </p:cNvPr>
          <p:cNvSpPr/>
          <p:nvPr/>
        </p:nvSpPr>
        <p:spPr>
          <a:xfrm>
            <a:off x="7663250" y="347019"/>
            <a:ext cx="3068594" cy="2039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723CC-7F75-9B32-2191-4508BBEF678E}"/>
              </a:ext>
            </a:extLst>
          </p:cNvPr>
          <p:cNvSpPr/>
          <p:nvPr/>
        </p:nvSpPr>
        <p:spPr>
          <a:xfrm>
            <a:off x="1126524" y="2422954"/>
            <a:ext cx="2467232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0CD90-A046-4D4E-F9C2-FF81D2E717CC}"/>
              </a:ext>
            </a:extLst>
          </p:cNvPr>
          <p:cNvSpPr/>
          <p:nvPr/>
        </p:nvSpPr>
        <p:spPr>
          <a:xfrm>
            <a:off x="3643184" y="2422954"/>
            <a:ext cx="2319466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7980A-5D6E-5E30-D2A4-A8F53517D665}"/>
              </a:ext>
            </a:extLst>
          </p:cNvPr>
          <p:cNvSpPr/>
          <p:nvPr/>
        </p:nvSpPr>
        <p:spPr>
          <a:xfrm>
            <a:off x="5933304" y="2422954"/>
            <a:ext cx="2421925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C5A13A-9A2C-22F6-65F5-B9A7B2723F7B}"/>
              </a:ext>
            </a:extLst>
          </p:cNvPr>
          <p:cNvSpPr/>
          <p:nvPr/>
        </p:nvSpPr>
        <p:spPr>
          <a:xfrm>
            <a:off x="8417011" y="2422954"/>
            <a:ext cx="2314833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216590-C44B-B4D8-4A5A-0AC3B1D7D194}"/>
              </a:ext>
            </a:extLst>
          </p:cNvPr>
          <p:cNvSpPr/>
          <p:nvPr/>
        </p:nvSpPr>
        <p:spPr>
          <a:xfrm>
            <a:off x="1126524" y="4437105"/>
            <a:ext cx="2471350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0C2B8-56FC-D93C-A0DC-374C1CCD4493}"/>
              </a:ext>
            </a:extLst>
          </p:cNvPr>
          <p:cNvSpPr/>
          <p:nvPr/>
        </p:nvSpPr>
        <p:spPr>
          <a:xfrm>
            <a:off x="3645929" y="4424748"/>
            <a:ext cx="2631989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34879-DF5F-ECAB-8066-9E7DE4F60853}"/>
              </a:ext>
            </a:extLst>
          </p:cNvPr>
          <p:cNvSpPr/>
          <p:nvPr/>
        </p:nvSpPr>
        <p:spPr>
          <a:xfrm>
            <a:off x="6325973" y="4437106"/>
            <a:ext cx="2125362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45701-FF03-AB9D-82D8-72162E356E88}"/>
              </a:ext>
            </a:extLst>
          </p:cNvPr>
          <p:cNvSpPr/>
          <p:nvPr/>
        </p:nvSpPr>
        <p:spPr>
          <a:xfrm>
            <a:off x="8499389" y="4428869"/>
            <a:ext cx="2232455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3B0613-6EE2-F50F-E759-A99423DEB2E5}"/>
              </a:ext>
            </a:extLst>
          </p:cNvPr>
          <p:cNvCxnSpPr>
            <a:cxnSpLocks/>
          </p:cNvCxnSpPr>
          <p:nvPr/>
        </p:nvCxnSpPr>
        <p:spPr>
          <a:xfrm flipV="1">
            <a:off x="4859079" y="637953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B19F7A5-6322-AE98-CF4E-BD6FC9CF393B}"/>
              </a:ext>
            </a:extLst>
          </p:cNvPr>
          <p:cNvSpPr txBox="1"/>
          <p:nvPr/>
        </p:nvSpPr>
        <p:spPr>
          <a:xfrm>
            <a:off x="5081182" y="382772"/>
            <a:ext cx="1911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breast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200" dirty="0"/>
              <a:t>(source et al?)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3EB00-B38F-0AA3-5582-3CA43EA93B6E}"/>
              </a:ext>
            </a:extLst>
          </p:cNvPr>
          <p:cNvSpPr txBox="1"/>
          <p:nvPr/>
        </p:nvSpPr>
        <p:spPr>
          <a:xfrm>
            <a:off x="4419055" y="33492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F68A01-D7CD-46DB-49F8-E347DBD9FFB3}"/>
              </a:ext>
            </a:extLst>
          </p:cNvPr>
          <p:cNvGrpSpPr/>
          <p:nvPr/>
        </p:nvGrpSpPr>
        <p:grpSpPr>
          <a:xfrm>
            <a:off x="4568618" y="738068"/>
            <a:ext cx="2620831" cy="1500611"/>
            <a:chOff x="4568618" y="738068"/>
            <a:chExt cx="2620831" cy="1500611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44E28B4-1D41-6A95-4D21-4C6604833365}"/>
                </a:ext>
              </a:extLst>
            </p:cNvPr>
            <p:cNvCxnSpPr>
              <a:cxnSpLocks/>
            </p:cNvCxnSpPr>
            <p:nvPr/>
          </p:nvCxnSpPr>
          <p:spPr>
            <a:xfrm>
              <a:off x="4843198" y="1833979"/>
              <a:ext cx="23462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245D119-264F-E0A2-4395-BB37BD780A26}"/>
                </a:ext>
              </a:extLst>
            </p:cNvPr>
            <p:cNvSpPr/>
            <p:nvPr/>
          </p:nvSpPr>
          <p:spPr>
            <a:xfrm>
              <a:off x="4982992" y="1198003"/>
              <a:ext cx="606054" cy="2232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693A8F-88C9-41FC-BE84-B82F8AD9B4E9}"/>
                </a:ext>
              </a:extLst>
            </p:cNvPr>
            <p:cNvSpPr/>
            <p:nvPr/>
          </p:nvSpPr>
          <p:spPr>
            <a:xfrm>
              <a:off x="5654955" y="1325867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9CF7B1C-A8FB-64FB-7472-B3A834E5A09F}"/>
                </a:ext>
              </a:extLst>
            </p:cNvPr>
            <p:cNvSpPr/>
            <p:nvPr/>
          </p:nvSpPr>
          <p:spPr>
            <a:xfrm>
              <a:off x="6293590" y="1465386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413F8A-3062-08D2-9B62-E9B401B9E075}"/>
                </a:ext>
              </a:extLst>
            </p:cNvPr>
            <p:cNvSpPr txBox="1"/>
            <p:nvPr/>
          </p:nvSpPr>
          <p:spPr>
            <a:xfrm rot="16200000">
              <a:off x="4054375" y="125231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4AE730-00B6-566A-E8DF-E1FD17679CE4}"/>
                </a:ext>
              </a:extLst>
            </p:cNvPr>
            <p:cNvSpPr txBox="1"/>
            <p:nvPr/>
          </p:nvSpPr>
          <p:spPr>
            <a:xfrm>
              <a:off x="4919464" y="182880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Epithelial</a:t>
              </a:r>
            </a:p>
            <a:p>
              <a:pPr algn="ctr"/>
              <a:r>
                <a:rPr lang="en-US" sz="1000" dirty="0"/>
                <a:t>(E)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B8A285-9DCD-C6A8-0F45-EF1792F24C17}"/>
                </a:ext>
              </a:extLst>
            </p:cNvPr>
            <p:cNvSpPr txBox="1"/>
            <p:nvPr/>
          </p:nvSpPr>
          <p:spPr>
            <a:xfrm>
              <a:off x="5693129" y="1822939"/>
              <a:ext cx="5517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Hybrid</a:t>
              </a:r>
            </a:p>
            <a:p>
              <a:pPr algn="ctr"/>
              <a:r>
                <a:rPr lang="en-US" sz="1000" dirty="0"/>
                <a:t>(E/M)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290343-97BD-6BCB-E2B0-D05DBB5CE519}"/>
                </a:ext>
              </a:extLst>
            </p:cNvPr>
            <p:cNvSpPr txBox="1"/>
            <p:nvPr/>
          </p:nvSpPr>
          <p:spPr>
            <a:xfrm>
              <a:off x="6168685" y="1838569"/>
              <a:ext cx="9605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Mesenchymal</a:t>
              </a:r>
            </a:p>
            <a:p>
              <a:pPr algn="ctr"/>
              <a:r>
                <a:rPr lang="en-US" sz="1000" dirty="0"/>
                <a:t>(M)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07C3F17-498D-E5D2-3E27-ECA6F6AF5572}"/>
              </a:ext>
            </a:extLst>
          </p:cNvPr>
          <p:cNvSpPr txBox="1"/>
          <p:nvPr/>
        </p:nvSpPr>
        <p:spPr>
          <a:xfrm>
            <a:off x="7951382" y="382772"/>
            <a:ext cx="2481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breast TCGA bulk RNA-seq</a:t>
            </a:r>
          </a:p>
          <a:p>
            <a:pPr algn="ctr"/>
            <a:r>
              <a:rPr lang="en-US" sz="1200" dirty="0"/>
              <a:t>(source et al?)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A25BE5-12FB-A941-954B-784C27C1EC25}"/>
              </a:ext>
            </a:extLst>
          </p:cNvPr>
          <p:cNvGrpSpPr/>
          <p:nvPr/>
        </p:nvGrpSpPr>
        <p:grpSpPr>
          <a:xfrm>
            <a:off x="7845218" y="712668"/>
            <a:ext cx="2620831" cy="1500611"/>
            <a:chOff x="4568618" y="738068"/>
            <a:chExt cx="2620831" cy="150061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607AF46-BF95-653F-1AD9-3FDA5361BDEC}"/>
                </a:ext>
              </a:extLst>
            </p:cNvPr>
            <p:cNvCxnSpPr>
              <a:cxnSpLocks/>
            </p:cNvCxnSpPr>
            <p:nvPr/>
          </p:nvCxnSpPr>
          <p:spPr>
            <a:xfrm>
              <a:off x="4843198" y="1833979"/>
              <a:ext cx="23462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C2FFE5-D992-C284-8362-82F06B03676C}"/>
                </a:ext>
              </a:extLst>
            </p:cNvPr>
            <p:cNvSpPr/>
            <p:nvPr/>
          </p:nvSpPr>
          <p:spPr>
            <a:xfrm>
              <a:off x="4982992" y="1198003"/>
              <a:ext cx="606054" cy="2232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7D54D2F-30B3-53D3-2BBC-510D36EEAF48}"/>
                </a:ext>
              </a:extLst>
            </p:cNvPr>
            <p:cNvSpPr/>
            <p:nvPr/>
          </p:nvSpPr>
          <p:spPr>
            <a:xfrm>
              <a:off x="5654955" y="1325867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D1766AC-0129-6757-136C-C216275311D3}"/>
                </a:ext>
              </a:extLst>
            </p:cNvPr>
            <p:cNvSpPr/>
            <p:nvPr/>
          </p:nvSpPr>
          <p:spPr>
            <a:xfrm>
              <a:off x="6293590" y="1465386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59E5A21-CEC8-EA4E-6717-83238F072971}"/>
                </a:ext>
              </a:extLst>
            </p:cNvPr>
            <p:cNvSpPr txBox="1"/>
            <p:nvPr/>
          </p:nvSpPr>
          <p:spPr>
            <a:xfrm rot="16200000">
              <a:off x="4054375" y="125231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237654-1F3F-123F-8954-1584F7AA56AF}"/>
                </a:ext>
              </a:extLst>
            </p:cNvPr>
            <p:cNvSpPr txBox="1"/>
            <p:nvPr/>
          </p:nvSpPr>
          <p:spPr>
            <a:xfrm>
              <a:off x="4919464" y="1828801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Epithelial</a:t>
              </a:r>
            </a:p>
            <a:p>
              <a:pPr algn="ctr"/>
              <a:r>
                <a:rPr lang="en-US" sz="1000" dirty="0"/>
                <a:t>(E)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91D84D-AC67-B1D0-2933-8C8D518009AB}"/>
                </a:ext>
              </a:extLst>
            </p:cNvPr>
            <p:cNvSpPr txBox="1"/>
            <p:nvPr/>
          </p:nvSpPr>
          <p:spPr>
            <a:xfrm>
              <a:off x="5693129" y="1822939"/>
              <a:ext cx="5517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Hybrid</a:t>
              </a:r>
            </a:p>
            <a:p>
              <a:pPr algn="ctr"/>
              <a:r>
                <a:rPr lang="en-US" sz="1000" dirty="0"/>
                <a:t>(E/M)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12EC54-2308-7501-FF84-465032F24A1D}"/>
                </a:ext>
              </a:extLst>
            </p:cNvPr>
            <p:cNvSpPr txBox="1"/>
            <p:nvPr/>
          </p:nvSpPr>
          <p:spPr>
            <a:xfrm>
              <a:off x="6168685" y="1838569"/>
              <a:ext cx="9605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Mesenchymal</a:t>
              </a:r>
            </a:p>
            <a:p>
              <a:pPr algn="ctr"/>
              <a:r>
                <a:rPr lang="en-US" sz="1000" dirty="0"/>
                <a:t>(M)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133FF0C-C065-A61C-A472-C580C491F2BE}"/>
              </a:ext>
            </a:extLst>
          </p:cNvPr>
          <p:cNvSpPr txBox="1"/>
          <p:nvPr/>
        </p:nvSpPr>
        <p:spPr>
          <a:xfrm>
            <a:off x="6284093" y="2504915"/>
            <a:ext cx="1872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PDAC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200" dirty="0"/>
              <a:t>(Cohort I- source et al?)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C2440B-93F8-CF1C-B920-74FACCA1FC6F}"/>
              </a:ext>
            </a:extLst>
          </p:cNvPr>
          <p:cNvGrpSpPr/>
          <p:nvPr/>
        </p:nvGrpSpPr>
        <p:grpSpPr>
          <a:xfrm>
            <a:off x="5981496" y="2649418"/>
            <a:ext cx="2370083" cy="1451497"/>
            <a:chOff x="4597196" y="642818"/>
            <a:chExt cx="2370083" cy="1451497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166F29F-BB86-CD6A-2106-CBB0169840D6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>
              <a:off x="4835525" y="1848094"/>
              <a:ext cx="16514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60C7A2C-2C0C-2B6F-2D03-104306CCD067}"/>
                </a:ext>
              </a:extLst>
            </p:cNvPr>
            <p:cNvSpPr/>
            <p:nvPr/>
          </p:nvSpPr>
          <p:spPr>
            <a:xfrm>
              <a:off x="4982992" y="1198004"/>
              <a:ext cx="347833" cy="2148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77F4476-F745-B1E6-4E14-2F662D7959B0}"/>
                </a:ext>
              </a:extLst>
            </p:cNvPr>
            <p:cNvSpPr/>
            <p:nvPr/>
          </p:nvSpPr>
          <p:spPr>
            <a:xfrm>
              <a:off x="5531130" y="1278241"/>
              <a:ext cx="314045" cy="2108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36998D2-BA6A-019D-DFBC-A215673588D1}"/>
                </a:ext>
              </a:extLst>
            </p:cNvPr>
            <p:cNvSpPr/>
            <p:nvPr/>
          </p:nvSpPr>
          <p:spPr>
            <a:xfrm>
              <a:off x="5979265" y="1389186"/>
              <a:ext cx="427885" cy="1856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C30E75B-1871-0ACE-F293-6A54A54B115E}"/>
                </a:ext>
              </a:extLst>
            </p:cNvPr>
            <p:cNvSpPr txBox="1"/>
            <p:nvPr/>
          </p:nvSpPr>
          <p:spPr>
            <a:xfrm rot="16200000">
              <a:off x="4082953" y="115706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295E09E-A4EC-EE4B-A31E-B12D328B646D}"/>
                </a:ext>
              </a:extLst>
            </p:cNvPr>
            <p:cNvSpPr txBox="1"/>
            <p:nvPr/>
          </p:nvSpPr>
          <p:spPr>
            <a:xfrm>
              <a:off x="4921068" y="1828801"/>
              <a:ext cx="7008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Classical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81D075-BD86-D941-A8C3-5407446D30B9}"/>
                </a:ext>
              </a:extLst>
            </p:cNvPr>
            <p:cNvSpPr txBox="1"/>
            <p:nvPr/>
          </p:nvSpPr>
          <p:spPr>
            <a:xfrm>
              <a:off x="5635625" y="1822939"/>
              <a:ext cx="3524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IC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CE63D17-C6E7-50BC-5E74-976637E225F9}"/>
                </a:ext>
              </a:extLst>
            </p:cNvPr>
            <p:cNvSpPr txBox="1"/>
            <p:nvPr/>
          </p:nvSpPr>
          <p:spPr>
            <a:xfrm>
              <a:off x="6006760" y="1848094"/>
              <a:ext cx="9605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Mesenchymal</a:t>
              </a: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F601A42-9726-F2C7-966F-BA42C4B9DEA6}"/>
              </a:ext>
            </a:extLst>
          </p:cNvPr>
          <p:cNvCxnSpPr>
            <a:cxnSpLocks/>
          </p:cNvCxnSpPr>
          <p:nvPr/>
        </p:nvCxnSpPr>
        <p:spPr>
          <a:xfrm flipV="1">
            <a:off x="6230679" y="2644553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0BFB921-F4BA-3280-0FA3-5EDE27DD47C8}"/>
              </a:ext>
            </a:extLst>
          </p:cNvPr>
          <p:cNvSpPr txBox="1"/>
          <p:nvPr/>
        </p:nvSpPr>
        <p:spPr>
          <a:xfrm>
            <a:off x="8674868" y="2447765"/>
            <a:ext cx="1872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PDAC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200" dirty="0"/>
              <a:t>(Cohort 2 - source et al?) 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BEBCA2-1E8A-29F6-D4BF-78FE12E98D6D}"/>
              </a:ext>
            </a:extLst>
          </p:cNvPr>
          <p:cNvGrpSpPr/>
          <p:nvPr/>
        </p:nvGrpSpPr>
        <p:grpSpPr>
          <a:xfrm>
            <a:off x="8381796" y="2706568"/>
            <a:ext cx="2370083" cy="1451497"/>
            <a:chOff x="4597196" y="642818"/>
            <a:chExt cx="2370083" cy="1451497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3CE71EA-C335-355A-3F29-491D0263DA32}"/>
                </a:ext>
              </a:extLst>
            </p:cNvPr>
            <p:cNvCxnSpPr>
              <a:cxnSpLocks/>
              <a:endCxn id="62" idx="0"/>
            </p:cNvCxnSpPr>
            <p:nvPr/>
          </p:nvCxnSpPr>
          <p:spPr>
            <a:xfrm>
              <a:off x="4835525" y="1848094"/>
              <a:ext cx="16514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96818CA-4853-1C11-9C5D-3007EA38E93D}"/>
                </a:ext>
              </a:extLst>
            </p:cNvPr>
            <p:cNvSpPr/>
            <p:nvPr/>
          </p:nvSpPr>
          <p:spPr>
            <a:xfrm>
              <a:off x="4982992" y="1198003"/>
              <a:ext cx="395458" cy="1862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C794E1F-3688-75F1-20BD-DB7D435D0382}"/>
                </a:ext>
              </a:extLst>
            </p:cNvPr>
            <p:cNvSpPr/>
            <p:nvPr/>
          </p:nvSpPr>
          <p:spPr>
            <a:xfrm>
              <a:off x="5426355" y="1249667"/>
              <a:ext cx="380720" cy="163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68A0BB4-9998-ED7A-C94A-99B4D87B89F5}"/>
                </a:ext>
              </a:extLst>
            </p:cNvPr>
            <p:cNvSpPr/>
            <p:nvPr/>
          </p:nvSpPr>
          <p:spPr>
            <a:xfrm>
              <a:off x="5864965" y="1370136"/>
              <a:ext cx="485035" cy="1665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DFCC1DD-8FA4-9771-994F-2094A6E38AEF}"/>
                </a:ext>
              </a:extLst>
            </p:cNvPr>
            <p:cNvSpPr txBox="1"/>
            <p:nvPr/>
          </p:nvSpPr>
          <p:spPr>
            <a:xfrm rot="16200000">
              <a:off x="4082953" y="115706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BBF1196-EB6C-64B8-6729-D54641BB7003}"/>
                </a:ext>
              </a:extLst>
            </p:cNvPr>
            <p:cNvSpPr txBox="1"/>
            <p:nvPr/>
          </p:nvSpPr>
          <p:spPr>
            <a:xfrm>
              <a:off x="4921068" y="1828801"/>
              <a:ext cx="7008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Classical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C6AEB32-70AB-E4E3-4C39-DC2B39306F3C}"/>
                </a:ext>
              </a:extLst>
            </p:cNvPr>
            <p:cNvSpPr txBox="1"/>
            <p:nvPr/>
          </p:nvSpPr>
          <p:spPr>
            <a:xfrm>
              <a:off x="5635625" y="1822939"/>
              <a:ext cx="3524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6E95072-A99C-5FC6-3EF5-A47DA8FCDC22}"/>
                </a:ext>
              </a:extLst>
            </p:cNvPr>
            <p:cNvSpPr txBox="1"/>
            <p:nvPr/>
          </p:nvSpPr>
          <p:spPr>
            <a:xfrm>
              <a:off x="6006760" y="1848094"/>
              <a:ext cx="9605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Mesenchymal</a:t>
              </a:r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20E455A-8CF1-3427-D243-5DB36E004451}"/>
              </a:ext>
            </a:extLst>
          </p:cNvPr>
          <p:cNvCxnSpPr>
            <a:cxnSpLocks/>
          </p:cNvCxnSpPr>
          <p:nvPr/>
        </p:nvCxnSpPr>
        <p:spPr>
          <a:xfrm flipV="1">
            <a:off x="8630979" y="2701703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42108DF-26A4-9905-CBA1-CC1A2DC846B2}"/>
              </a:ext>
            </a:extLst>
          </p:cNvPr>
          <p:cNvSpPr txBox="1"/>
          <p:nvPr/>
        </p:nvSpPr>
        <p:spPr>
          <a:xfrm>
            <a:off x="3987703" y="2517038"/>
            <a:ext cx="1850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Mouse PDAC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638C27D-8869-907F-BB4E-6E040DAD6A28}"/>
              </a:ext>
            </a:extLst>
          </p:cNvPr>
          <p:cNvGrpSpPr/>
          <p:nvPr/>
        </p:nvGrpSpPr>
        <p:grpSpPr>
          <a:xfrm>
            <a:off x="3695500" y="2744668"/>
            <a:ext cx="2219306" cy="1458585"/>
            <a:chOff x="4597196" y="642818"/>
            <a:chExt cx="2532890" cy="1458585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32B43FD-75A2-1B91-3160-74344D69D045}"/>
                </a:ext>
              </a:extLst>
            </p:cNvPr>
            <p:cNvCxnSpPr>
              <a:cxnSpLocks/>
            </p:cNvCxnSpPr>
            <p:nvPr/>
          </p:nvCxnSpPr>
          <p:spPr>
            <a:xfrm>
              <a:off x="4859788" y="1855182"/>
              <a:ext cx="20610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B77E1FD-DD62-19A8-62F4-25FBC372A7E0}"/>
                </a:ext>
              </a:extLst>
            </p:cNvPr>
            <p:cNvSpPr/>
            <p:nvPr/>
          </p:nvSpPr>
          <p:spPr>
            <a:xfrm>
              <a:off x="4982992" y="1198003"/>
              <a:ext cx="606054" cy="2232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AB8FBFD-22C8-C1BE-605D-7D19516AF8DC}"/>
                </a:ext>
              </a:extLst>
            </p:cNvPr>
            <p:cNvSpPr/>
            <p:nvPr/>
          </p:nvSpPr>
          <p:spPr>
            <a:xfrm>
              <a:off x="5654955" y="1325867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9B5E11C-D993-9EDE-A977-257E2E77F642}"/>
                </a:ext>
              </a:extLst>
            </p:cNvPr>
            <p:cNvSpPr/>
            <p:nvPr/>
          </p:nvSpPr>
          <p:spPr>
            <a:xfrm>
              <a:off x="6293590" y="1465386"/>
              <a:ext cx="570614" cy="19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1BA1C78-5A7B-4D09-21F0-08A0F7C3DC6C}"/>
                </a:ext>
              </a:extLst>
            </p:cNvPr>
            <p:cNvSpPr txBox="1"/>
            <p:nvPr/>
          </p:nvSpPr>
          <p:spPr>
            <a:xfrm rot="16200000">
              <a:off x="4082953" y="115706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B8FC94B-C9C9-3EF4-595F-7982951A521F}"/>
                </a:ext>
              </a:extLst>
            </p:cNvPr>
            <p:cNvSpPr txBox="1"/>
            <p:nvPr/>
          </p:nvSpPr>
          <p:spPr>
            <a:xfrm>
              <a:off x="4921068" y="1828801"/>
              <a:ext cx="7008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Classical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147E91-699B-6272-7B42-629E465FD450}"/>
                </a:ext>
              </a:extLst>
            </p:cNvPr>
            <p:cNvSpPr txBox="1"/>
            <p:nvPr/>
          </p:nvSpPr>
          <p:spPr>
            <a:xfrm>
              <a:off x="5635625" y="1822939"/>
              <a:ext cx="6033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basal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DA71FF3-8A4A-F429-5E86-0129BA514E68}"/>
                </a:ext>
              </a:extLst>
            </p:cNvPr>
            <p:cNvSpPr txBox="1"/>
            <p:nvPr/>
          </p:nvSpPr>
          <p:spPr>
            <a:xfrm>
              <a:off x="6032128" y="1855182"/>
              <a:ext cx="10979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Mesenchymal</a:t>
              </a: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BD1A0FE-7B26-6060-1C1B-3136DAC9266E}"/>
              </a:ext>
            </a:extLst>
          </p:cNvPr>
          <p:cNvCxnSpPr>
            <a:cxnSpLocks/>
          </p:cNvCxnSpPr>
          <p:nvPr/>
        </p:nvCxnSpPr>
        <p:spPr>
          <a:xfrm flipV="1">
            <a:off x="3944679" y="2739803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2D75901-3A3A-A196-C349-BE060A844158}"/>
              </a:ext>
            </a:extLst>
          </p:cNvPr>
          <p:cNvSpPr txBox="1"/>
          <p:nvPr/>
        </p:nvSpPr>
        <p:spPr>
          <a:xfrm>
            <a:off x="8758442" y="4478127"/>
            <a:ext cx="2048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200" dirty="0"/>
              <a:t>(Cohort 2 - source et al?) 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8E755D7-DBAA-660A-EB05-CED2AA7E93E4}"/>
              </a:ext>
            </a:extLst>
          </p:cNvPr>
          <p:cNvGrpSpPr/>
          <p:nvPr/>
        </p:nvGrpSpPr>
        <p:grpSpPr>
          <a:xfrm>
            <a:off x="8494867" y="4795923"/>
            <a:ext cx="1889824" cy="1274708"/>
            <a:chOff x="4597196" y="642818"/>
            <a:chExt cx="1889824" cy="1274708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0DDE2C4-AD4E-3767-DDD2-4A6601D214CB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25" y="1848094"/>
              <a:ext cx="16514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25473F0-C90C-89E9-4723-25EB52FFB87D}"/>
                </a:ext>
              </a:extLst>
            </p:cNvPr>
            <p:cNvSpPr txBox="1"/>
            <p:nvPr/>
          </p:nvSpPr>
          <p:spPr>
            <a:xfrm rot="16200000">
              <a:off x="4082953" y="115706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B9199B2-F43B-FF08-FAA9-C32D7AB4B50B}"/>
              </a:ext>
            </a:extLst>
          </p:cNvPr>
          <p:cNvCxnSpPr>
            <a:cxnSpLocks/>
          </p:cNvCxnSpPr>
          <p:nvPr/>
        </p:nvCxnSpPr>
        <p:spPr>
          <a:xfrm flipV="1">
            <a:off x="8744050" y="4791058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249DB9-73F2-F4AF-BEF0-F8C4DDD83734}"/>
              </a:ext>
            </a:extLst>
          </p:cNvPr>
          <p:cNvCxnSpPr/>
          <p:nvPr/>
        </p:nvCxnSpPr>
        <p:spPr>
          <a:xfrm>
            <a:off x="8996516" y="5093110"/>
            <a:ext cx="1022555" cy="501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083F690-CA5C-C508-62AA-F289F8F3B0D5}"/>
              </a:ext>
            </a:extLst>
          </p:cNvPr>
          <p:cNvSpPr txBox="1"/>
          <p:nvPr/>
        </p:nvSpPr>
        <p:spPr>
          <a:xfrm>
            <a:off x="6441507" y="4424648"/>
            <a:ext cx="2048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200" dirty="0"/>
              <a:t>(Cohort 1 - source et al?) 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CA4BB15-B5C9-C481-23F3-E7457680502D}"/>
              </a:ext>
            </a:extLst>
          </p:cNvPr>
          <p:cNvGrpSpPr/>
          <p:nvPr/>
        </p:nvGrpSpPr>
        <p:grpSpPr>
          <a:xfrm>
            <a:off x="6376016" y="4830336"/>
            <a:ext cx="1889824" cy="1274708"/>
            <a:chOff x="4597196" y="642818"/>
            <a:chExt cx="1889824" cy="1274708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355882B4-DE88-1361-33B4-A93791DEDC00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25" y="1848094"/>
              <a:ext cx="16514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ED72C51-95B7-D0C4-6A78-626EEBB13A13}"/>
                </a:ext>
              </a:extLst>
            </p:cNvPr>
            <p:cNvSpPr txBox="1"/>
            <p:nvPr/>
          </p:nvSpPr>
          <p:spPr>
            <a:xfrm rot="16200000">
              <a:off x="4082953" y="115706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9B92E92-0812-DBF2-4789-51E34749315E}"/>
              </a:ext>
            </a:extLst>
          </p:cNvPr>
          <p:cNvCxnSpPr>
            <a:cxnSpLocks/>
          </p:cNvCxnSpPr>
          <p:nvPr/>
        </p:nvCxnSpPr>
        <p:spPr>
          <a:xfrm flipV="1">
            <a:off x="6625199" y="4825471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3FF5A42-268F-19DE-16C1-82D32FFDF033}"/>
              </a:ext>
            </a:extLst>
          </p:cNvPr>
          <p:cNvCxnSpPr/>
          <p:nvPr/>
        </p:nvCxnSpPr>
        <p:spPr>
          <a:xfrm>
            <a:off x="6877665" y="5127523"/>
            <a:ext cx="1022555" cy="501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EB5AF74-D6A1-0532-F625-C1E4804EB95B}"/>
              </a:ext>
            </a:extLst>
          </p:cNvPr>
          <p:cNvSpPr txBox="1"/>
          <p:nvPr/>
        </p:nvSpPr>
        <p:spPr>
          <a:xfrm>
            <a:off x="3944031" y="4452827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Human melanoma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200" dirty="0"/>
              <a:t>(using Tsoi 4-state trajectory)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1A8A4BD-24A0-885B-B6C2-34AB6A4F78EF}"/>
              </a:ext>
            </a:extLst>
          </p:cNvPr>
          <p:cNvGrpSpPr/>
          <p:nvPr/>
        </p:nvGrpSpPr>
        <p:grpSpPr>
          <a:xfrm>
            <a:off x="3750803" y="4800839"/>
            <a:ext cx="1889824" cy="1274708"/>
            <a:chOff x="4597196" y="642818"/>
            <a:chExt cx="1889824" cy="1274708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BCAD3E5A-287E-876F-2CB7-690FB583821F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25" y="1848094"/>
              <a:ext cx="16514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406D5F3-FB3A-E063-27F1-31D0631B996E}"/>
                </a:ext>
              </a:extLst>
            </p:cNvPr>
            <p:cNvSpPr txBox="1"/>
            <p:nvPr/>
          </p:nvSpPr>
          <p:spPr>
            <a:xfrm rot="16200000">
              <a:off x="4082953" y="115706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24447C1-862E-AE53-9C1B-73124D0E8DD3}"/>
              </a:ext>
            </a:extLst>
          </p:cNvPr>
          <p:cNvCxnSpPr>
            <a:cxnSpLocks/>
          </p:cNvCxnSpPr>
          <p:nvPr/>
        </p:nvCxnSpPr>
        <p:spPr>
          <a:xfrm flipV="1">
            <a:off x="3999986" y="4795974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C59300D-7933-5124-24FF-9F0F38805409}"/>
              </a:ext>
            </a:extLst>
          </p:cNvPr>
          <p:cNvSpPr/>
          <p:nvPr/>
        </p:nvSpPr>
        <p:spPr>
          <a:xfrm>
            <a:off x="4117107" y="5271221"/>
            <a:ext cx="258248" cy="2053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5659588-74B6-F795-91E3-12A0CB74E37D}"/>
              </a:ext>
            </a:extLst>
          </p:cNvPr>
          <p:cNvSpPr txBox="1"/>
          <p:nvPr/>
        </p:nvSpPr>
        <p:spPr>
          <a:xfrm>
            <a:off x="3828861" y="6039670"/>
            <a:ext cx="7280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Melanocytic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273E1E0-528B-FAF0-8B67-53CEC198AC6D}"/>
              </a:ext>
            </a:extLst>
          </p:cNvPr>
          <p:cNvSpPr txBox="1"/>
          <p:nvPr/>
        </p:nvSpPr>
        <p:spPr>
          <a:xfrm>
            <a:off x="4496277" y="6034753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Transitory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146A3F0-0377-6B8C-5B78-7668BA0271A4}"/>
              </a:ext>
            </a:extLst>
          </p:cNvPr>
          <p:cNvSpPr txBox="1"/>
          <p:nvPr/>
        </p:nvSpPr>
        <p:spPr>
          <a:xfrm>
            <a:off x="5052391" y="6029836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Neural </a:t>
            </a:r>
          </a:p>
          <a:p>
            <a:pPr algn="ctr"/>
            <a:r>
              <a:rPr lang="en-US" sz="800" dirty="0"/>
              <a:t>crest-like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58FC687-FA88-1157-3C8C-EAC7F72654BE}"/>
              </a:ext>
            </a:extLst>
          </p:cNvPr>
          <p:cNvSpPr txBox="1"/>
          <p:nvPr/>
        </p:nvSpPr>
        <p:spPr>
          <a:xfrm>
            <a:off x="5492553" y="6034753"/>
            <a:ext cx="9108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Undifferentiated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8BA7E85-B230-9665-4B65-59F341E68878}"/>
              </a:ext>
            </a:extLst>
          </p:cNvPr>
          <p:cNvSpPr txBox="1"/>
          <p:nvPr/>
        </p:nvSpPr>
        <p:spPr>
          <a:xfrm>
            <a:off x="1182310" y="4458462"/>
            <a:ext cx="2483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Human melanoma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200" dirty="0"/>
              <a:t>(using Tirosh MITF-AXL continuum)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C91F75E-9300-805A-5443-8E5CCC61D5D0}"/>
              </a:ext>
            </a:extLst>
          </p:cNvPr>
          <p:cNvGrpSpPr/>
          <p:nvPr/>
        </p:nvGrpSpPr>
        <p:grpSpPr>
          <a:xfrm>
            <a:off x="1307487" y="4835252"/>
            <a:ext cx="1889824" cy="1274708"/>
            <a:chOff x="4597196" y="642818"/>
            <a:chExt cx="1889824" cy="1274708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2AC5DA37-29FE-B5B4-CCA2-DDFE8078300A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25" y="1848094"/>
              <a:ext cx="16514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2DF8BFD-D547-181E-545F-7FC5B92F820A}"/>
                </a:ext>
              </a:extLst>
            </p:cNvPr>
            <p:cNvSpPr txBox="1"/>
            <p:nvPr/>
          </p:nvSpPr>
          <p:spPr>
            <a:xfrm rot="16200000">
              <a:off x="4082953" y="1157061"/>
              <a:ext cx="12747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BH4-pathway score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C21A082-F009-7DB1-58AE-5D7948C7098B}"/>
              </a:ext>
            </a:extLst>
          </p:cNvPr>
          <p:cNvCxnSpPr>
            <a:cxnSpLocks/>
          </p:cNvCxnSpPr>
          <p:nvPr/>
        </p:nvCxnSpPr>
        <p:spPr>
          <a:xfrm flipV="1">
            <a:off x="1556670" y="4830387"/>
            <a:ext cx="0" cy="12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140B3A7-CF93-4EE3-6657-AA4F011981FD}"/>
              </a:ext>
            </a:extLst>
          </p:cNvPr>
          <p:cNvSpPr txBox="1"/>
          <p:nvPr/>
        </p:nvSpPr>
        <p:spPr>
          <a:xfrm>
            <a:off x="1742057" y="6052502"/>
            <a:ext cx="10374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MITF-AXL score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AD50C42-DB20-E1C7-99E2-F6EE4E584B37}"/>
              </a:ext>
            </a:extLst>
          </p:cNvPr>
          <p:cNvSpPr txBox="1"/>
          <p:nvPr/>
        </p:nvSpPr>
        <p:spPr>
          <a:xfrm>
            <a:off x="6879412" y="6057418"/>
            <a:ext cx="11384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MES-ADRN score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3325E80-2011-210F-C000-9B2046C07269}"/>
              </a:ext>
            </a:extLst>
          </p:cNvPr>
          <p:cNvSpPr txBox="1"/>
          <p:nvPr/>
        </p:nvSpPr>
        <p:spPr>
          <a:xfrm>
            <a:off x="8988432" y="6042670"/>
            <a:ext cx="11384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MES-ADRN score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C8F9A89-9B8A-5561-6EC0-EF23B03F1735}"/>
              </a:ext>
            </a:extLst>
          </p:cNvPr>
          <p:cNvCxnSpPr/>
          <p:nvPr/>
        </p:nvCxnSpPr>
        <p:spPr>
          <a:xfrm>
            <a:off x="1691149" y="1130710"/>
            <a:ext cx="2290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F585B6E-FBB9-063B-979B-B262EA7E0E5C}"/>
              </a:ext>
            </a:extLst>
          </p:cNvPr>
          <p:cNvSpPr txBox="1"/>
          <p:nvPr/>
        </p:nvSpPr>
        <p:spPr>
          <a:xfrm>
            <a:off x="1268418" y="678427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Differentiated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FF68E14-0A76-570F-52FF-DB05399F5022}"/>
              </a:ext>
            </a:extLst>
          </p:cNvPr>
          <p:cNvSpPr txBox="1"/>
          <p:nvPr/>
        </p:nvSpPr>
        <p:spPr>
          <a:xfrm>
            <a:off x="2074895" y="575189"/>
            <a:ext cx="123783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Intermediate</a:t>
            </a:r>
          </a:p>
          <a:p>
            <a:pPr algn="ctr"/>
            <a:r>
              <a:rPr lang="en-US" sz="900" dirty="0"/>
              <a:t>Plasticity associated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ED3A06B-DB3F-2D2B-BBE8-AA32FAA94424}"/>
              </a:ext>
            </a:extLst>
          </p:cNvPr>
          <p:cNvSpPr txBox="1"/>
          <p:nvPr/>
        </p:nvSpPr>
        <p:spPr>
          <a:xfrm>
            <a:off x="3209101" y="596417"/>
            <a:ext cx="11063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Dedifferentiated /</a:t>
            </a:r>
          </a:p>
          <a:p>
            <a:pPr algn="ctr"/>
            <a:r>
              <a:rPr lang="en-US" sz="900" dirty="0"/>
              <a:t>mesenchymal-like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3A6D2B7-58FE-97E0-CA56-400053079469}"/>
              </a:ext>
            </a:extLst>
          </p:cNvPr>
          <p:cNvSpPr txBox="1"/>
          <p:nvPr/>
        </p:nvSpPr>
        <p:spPr>
          <a:xfrm>
            <a:off x="1801502" y="1258528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BH4 pathway transcriptional score</a:t>
            </a:r>
          </a:p>
          <a:p>
            <a:pPr algn="ctr"/>
            <a:r>
              <a:rPr lang="en-US" sz="800" dirty="0"/>
              <a:t>(de novo synthesis &amp; recycling genes)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01E7AB3-673A-5E75-D7A9-51EEE04CEBA1}"/>
              </a:ext>
            </a:extLst>
          </p:cNvPr>
          <p:cNvSpPr txBox="1"/>
          <p:nvPr/>
        </p:nvSpPr>
        <p:spPr>
          <a:xfrm>
            <a:off x="1348149" y="1700980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Human </a:t>
            </a:r>
            <a:r>
              <a:rPr lang="en-US" sz="900" dirty="0" err="1"/>
              <a:t>scRNA</a:t>
            </a:r>
            <a:r>
              <a:rPr lang="en-US" sz="900" dirty="0"/>
              <a:t>-seq &amp; bulk transcriptomic data analysis</a:t>
            </a:r>
          </a:p>
          <a:p>
            <a:pPr algn="ctr"/>
            <a:r>
              <a:rPr lang="en-US" sz="900" dirty="0"/>
              <a:t>Breast | PDAC | Melanoma | Neuroblastoma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F9C139E-439E-32AC-584B-8ED1842F75A9}"/>
              </a:ext>
            </a:extLst>
          </p:cNvPr>
          <p:cNvSpPr/>
          <p:nvPr/>
        </p:nvSpPr>
        <p:spPr>
          <a:xfrm>
            <a:off x="1396181" y="1710813"/>
            <a:ext cx="2831690" cy="383458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BCA700C-EECA-9F1B-D292-37AD7E0DEBCF}"/>
              </a:ext>
            </a:extLst>
          </p:cNvPr>
          <p:cNvSpPr txBox="1"/>
          <p:nvPr/>
        </p:nvSpPr>
        <p:spPr>
          <a:xfrm>
            <a:off x="1133988" y="35185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A5AB039-2D88-9AB8-B348-C9A2D24C42A4}"/>
              </a:ext>
            </a:extLst>
          </p:cNvPr>
          <p:cNvSpPr txBox="1"/>
          <p:nvPr/>
        </p:nvSpPr>
        <p:spPr>
          <a:xfrm>
            <a:off x="7636388" y="31799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9295C23-6C72-07F7-6E39-D0DDA51A5B16}"/>
              </a:ext>
            </a:extLst>
          </p:cNvPr>
          <p:cNvSpPr txBox="1"/>
          <p:nvPr/>
        </p:nvSpPr>
        <p:spPr>
          <a:xfrm>
            <a:off x="1117055" y="24092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947DC04-17EA-7CCB-F682-A129477CA1EF}"/>
              </a:ext>
            </a:extLst>
          </p:cNvPr>
          <p:cNvSpPr txBox="1"/>
          <p:nvPr/>
        </p:nvSpPr>
        <p:spPr>
          <a:xfrm>
            <a:off x="3631655" y="240079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5D26E97-9AA4-A1F5-CF70-4E39D8E15569}"/>
              </a:ext>
            </a:extLst>
          </p:cNvPr>
          <p:cNvSpPr txBox="1"/>
          <p:nvPr/>
        </p:nvSpPr>
        <p:spPr>
          <a:xfrm>
            <a:off x="5934588" y="23753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6E73653-5F9C-FA90-A57A-7F74F088B70C}"/>
              </a:ext>
            </a:extLst>
          </p:cNvPr>
          <p:cNvSpPr txBox="1"/>
          <p:nvPr/>
        </p:nvSpPr>
        <p:spPr>
          <a:xfrm>
            <a:off x="8372988" y="2383859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0D104B2-8A1D-4C69-5F67-316A360016D2}"/>
              </a:ext>
            </a:extLst>
          </p:cNvPr>
          <p:cNvSpPr txBox="1"/>
          <p:nvPr/>
        </p:nvSpPr>
        <p:spPr>
          <a:xfrm>
            <a:off x="1108588" y="4415859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9409089-5513-992F-0BA8-9451F708BF0F}"/>
              </a:ext>
            </a:extLst>
          </p:cNvPr>
          <p:cNvSpPr txBox="1"/>
          <p:nvPr/>
        </p:nvSpPr>
        <p:spPr>
          <a:xfrm>
            <a:off x="3657055" y="4398926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92B0DCA-9EC4-1D2D-212C-08A6732E77FE}"/>
              </a:ext>
            </a:extLst>
          </p:cNvPr>
          <p:cNvSpPr txBox="1"/>
          <p:nvPr/>
        </p:nvSpPr>
        <p:spPr>
          <a:xfrm>
            <a:off x="6307122" y="439892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BFBE765-4337-492B-33A6-938E85E4DA0E}"/>
              </a:ext>
            </a:extLst>
          </p:cNvPr>
          <p:cNvSpPr txBox="1"/>
          <p:nvPr/>
        </p:nvSpPr>
        <p:spPr>
          <a:xfrm>
            <a:off x="8483055" y="439045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EE2FE090-E0DB-84D0-C7E4-604468A4A9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87" r="28191" b="4946"/>
          <a:stretch>
            <a:fillRect/>
          </a:stretch>
        </p:blipFill>
        <p:spPr>
          <a:xfrm>
            <a:off x="1184566" y="2847108"/>
            <a:ext cx="1402772" cy="1475510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D8362C7A-4DB5-20F3-1822-D52CBE009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810" y="3595254"/>
            <a:ext cx="982854" cy="694551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05F6344F-0513-963F-77A5-66AAAF97D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46" t="31171" r="3014" b="18781"/>
          <a:stretch>
            <a:fillRect/>
          </a:stretch>
        </p:blipFill>
        <p:spPr>
          <a:xfrm>
            <a:off x="2608117" y="2712026"/>
            <a:ext cx="436419" cy="852055"/>
          </a:xfrm>
          <a:prstGeom prst="rect">
            <a:avLst/>
          </a:prstGeom>
        </p:spPr>
      </p:pic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A70F44A-DBA0-AAAC-F85A-745C19420A50}"/>
              </a:ext>
            </a:extLst>
          </p:cNvPr>
          <p:cNvCxnSpPr>
            <a:cxnSpLocks/>
          </p:cNvCxnSpPr>
          <p:nvPr/>
        </p:nvCxnSpPr>
        <p:spPr>
          <a:xfrm flipV="1">
            <a:off x="8128752" y="748145"/>
            <a:ext cx="0" cy="1063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6841D183-2794-6DDA-8579-6379EF8DFBB5}"/>
              </a:ext>
            </a:extLst>
          </p:cNvPr>
          <p:cNvSpPr txBox="1"/>
          <p:nvPr/>
        </p:nvSpPr>
        <p:spPr>
          <a:xfrm>
            <a:off x="1174173" y="2409665"/>
            <a:ext cx="249381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Autochthonous KPCT PDAC </a:t>
            </a:r>
          </a:p>
          <a:p>
            <a:pPr algn="ctr"/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endParaRPr lang="en-US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0C44D8A-8214-34AD-81EA-F46EBE5E7F1A}"/>
              </a:ext>
            </a:extLst>
          </p:cNvPr>
          <p:cNvSpPr txBox="1"/>
          <p:nvPr/>
        </p:nvSpPr>
        <p:spPr>
          <a:xfrm>
            <a:off x="1839951" y="5363737"/>
            <a:ext cx="806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Pending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03DA9D7-54BD-98E6-9A1A-A60AEEF6A211}"/>
              </a:ext>
            </a:extLst>
          </p:cNvPr>
          <p:cNvSpPr txBox="1"/>
          <p:nvPr/>
        </p:nvSpPr>
        <p:spPr>
          <a:xfrm>
            <a:off x="4467922" y="5404625"/>
            <a:ext cx="806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92352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210</Words>
  <Application>Microsoft Macintosh PowerPoint</Application>
  <PresentationFormat>Widescreen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Whitney Henry</cp:lastModifiedBy>
  <cp:revision>10</cp:revision>
  <dcterms:created xsi:type="dcterms:W3CDTF">2026-08-13T00:02:20Z</dcterms:created>
  <dcterms:modified xsi:type="dcterms:W3CDTF">2026-08-13T00:50:38Z</dcterms:modified>
</cp:coreProperties>
</file>