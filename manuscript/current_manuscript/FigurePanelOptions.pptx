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4" d="100"/>
          <a:sy n="84" d="100"/>
        </p:scale>
        <p:origin x="3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6DA7-66AF-3921-19DB-1255182EF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331CB-A0E8-987D-20DB-5FEA08868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C40C3-B10C-8162-4078-2451E7E68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3177D-0C27-D78D-6FA5-01570DE34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1287E-C53E-D876-AB6D-966BD64A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61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A92F-CE28-4484-9D6D-97B5EC014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E6DD8-5781-1E9D-5CB5-E615F507A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DCADC-6DC1-FBF0-402E-EDD148D8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1150-C71B-171D-9A02-0E3CBE5D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8423-59CF-4998-C33F-987BA18C0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7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F9E3-B9D2-FBF1-F830-0AA967B46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2CAED-3500-C6E3-3DCE-7CC0C29E7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8D0A0-06DD-3FA6-FB05-18DBD871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3B873-BF04-224D-DC49-BF743D94F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BCAFC-A67E-8C59-3B09-DDD72FB5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0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1A6E-23B1-8BFE-7888-0DE69B9A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E4AF4-8AC2-96DD-BA1D-599C3F639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BF408-AB4F-BBFA-3B1F-FDAD90BD8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30A38-D943-7D67-D4A7-FB20771C7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D69391-F853-114A-4546-35403AB5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8B03C-E74F-D85D-9AB0-047338AF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85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9F2FC-ED0F-7263-A534-701FD155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C4432-8EC3-F8DF-F019-B86601620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50EA1-47B5-9D04-2D42-9903DE5AD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2902B-829D-D08E-C828-CA8F743B5F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FE9A9-18E2-633E-EEC5-7E4547342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97971C-51AE-762D-708E-D792CF844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21E6C-052B-72DD-1E19-360DDAF9A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830FA4-3164-7B57-D3CC-4E58F707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1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49EF-56EA-704C-48AE-C8109A98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227E4-EBFB-8903-E0BD-3880FE017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74F2E8-EC70-DCA9-87B3-863A84DD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BB7F9-0D51-9969-C1AD-8F61DF5A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54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524453-CA82-1AB8-0749-C8C719F3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7C51B-F7A2-16E2-DB9E-D2CDC516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7735A-7864-8A19-C492-1B5B41457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7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47B5-0589-8749-36A2-9D7CAC4BD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F8AB1-B951-106F-C262-98515382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0A5E3-2FC7-BE36-F496-BB34FCFFE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22044-B72F-5B43-2BE4-19DE99AE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7159C-ADDA-1282-81E2-9D4D48CF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1EA76-0EA8-3516-8196-07D2D848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37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2541-1D62-423D-0F37-84436035E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F8A5D8-87CB-F512-9FB0-3066454F4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BF87C-4969-ED13-A952-09791282F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C4225-40D2-992B-95DF-45A5FAA4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849E9-93A2-46C8-124E-E885050C6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C5C16-F204-218C-4C7F-E0DDF9A5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23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1F3-1347-C973-0A12-7728C20F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7F2D56-B4D0-55C5-4272-8A4EB6ED7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2AF34-4AD8-255D-4232-E38B085D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01FB6-C335-88FB-BB39-61438F024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BCA26-DF37-C318-3CD1-DD657E1E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073B7B-CA08-7C6E-4B3A-6FD4DADB67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95D2A6-E5C2-E9EA-E091-2062B3F7C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342A1-0BE9-FE04-3D0D-93EDE1AF0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E44B3-C0FB-8DEE-1AED-8AF4B8E0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7BE4-CFD6-EC88-42F5-7A7BD01A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51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CF52A-06D8-20EE-26E8-3F66EB803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CFF8A-1E62-DC17-0633-729D9D492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08BE2-0262-A2DF-3184-834F16268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1F0DB-615D-4AC8-AFF6-ABD8BAFBC46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2C118-D0E3-B18C-CD56-D41E37AAEF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4CA08-3170-B64E-2DC4-A72AC01B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C1E5F-2979-4257-AA3E-2CC85E923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6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553DB-4B7F-9E22-F5E7-93A608FDFBD1}"/>
              </a:ext>
            </a:extLst>
          </p:cNvPr>
          <p:cNvSpPr txBox="1"/>
          <p:nvPr/>
        </p:nvSpPr>
        <p:spPr>
          <a:xfrm>
            <a:off x="125730" y="91440"/>
            <a:ext cx="11082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Figure 1b – Breast Cancer Atlas, </a:t>
            </a:r>
            <a:r>
              <a:rPr lang="en-US" dirty="0" err="1"/>
              <a:t>pseudobulk</a:t>
            </a:r>
            <a:r>
              <a:rPr lang="en-US" dirty="0"/>
              <a:t>, BH4 gene set scores by </a:t>
            </a:r>
            <a:r>
              <a:rPr lang="en-US" dirty="0" err="1"/>
              <a:t>ssgsea</a:t>
            </a:r>
            <a:r>
              <a:rPr lang="en-US" dirty="0"/>
              <a:t>, </a:t>
            </a:r>
            <a:r>
              <a:rPr lang="en-US" dirty="0" err="1"/>
              <a:t>gsva</a:t>
            </a:r>
            <a:r>
              <a:rPr lang="en-US" dirty="0"/>
              <a:t>, </a:t>
            </a:r>
            <a:r>
              <a:rPr lang="en-US" dirty="0" err="1"/>
              <a:t>ucell</a:t>
            </a:r>
            <a:r>
              <a:rPr lang="en-US" dirty="0"/>
              <a:t>, stratified by KS tertile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C8890D-3AEA-51E6-1DF3-B87D6C6A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" y="1497330"/>
            <a:ext cx="365760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AD7670-AE7C-7D75-6CC9-A151CBD7D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10" y="1497330"/>
            <a:ext cx="365760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816B15-E7E2-872D-AE57-1538686A2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1940" y="149733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5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C60678-2160-A37E-39AC-C7A5F830F850}"/>
              </a:ext>
            </a:extLst>
          </p:cNvPr>
          <p:cNvSpPr txBox="1"/>
          <p:nvPr/>
        </p:nvSpPr>
        <p:spPr>
          <a:xfrm>
            <a:off x="125730" y="91440"/>
            <a:ext cx="683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Figure 5a-d – Option 1 - gene set scores with </a:t>
            </a:r>
            <a:r>
              <a:rPr lang="en-US" dirty="0" err="1"/>
              <a:t>ssgsea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78EF7-BF02-C057-884B-CC53B439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770" y="685800"/>
            <a:ext cx="3657600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261995-70C0-03F3-CF63-B953CAAC8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390" y="685800"/>
            <a:ext cx="3657600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287C06-15FA-44F1-0232-B8D2829E88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770" y="3654028"/>
            <a:ext cx="3657600" cy="2743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C9909BB-1DE1-4A98-332B-4C610B402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7390" y="3654028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00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DCB4B-D49E-F3C5-77E7-7EDC57687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1280E4-DD82-A750-27AA-D79D3749BD77}"/>
              </a:ext>
            </a:extLst>
          </p:cNvPr>
          <p:cNvSpPr txBox="1"/>
          <p:nvPr/>
        </p:nvSpPr>
        <p:spPr>
          <a:xfrm>
            <a:off x="125730" y="91440"/>
            <a:ext cx="658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Figure 5a-d – Option 1 - gene set scores with </a:t>
            </a:r>
            <a:r>
              <a:rPr lang="en-US" dirty="0" err="1"/>
              <a:t>gsva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DF266-4E2C-ABD5-3CFF-E79813900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350" y="685800"/>
            <a:ext cx="36576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CC3FCB-14EE-2AEF-13D4-753835356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540" y="685800"/>
            <a:ext cx="36576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97F403-AAF3-15D1-2D4D-D3BDCE5E0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350" y="3654028"/>
            <a:ext cx="3657600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A6CCD3-4E47-D99D-DA1B-E69D562E0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540" y="3654028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200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7EC14-ABB2-060A-6459-1B66BF95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3377E8-94C0-6C55-FDFC-4DD1EE5F454D}"/>
              </a:ext>
            </a:extLst>
          </p:cNvPr>
          <p:cNvSpPr txBox="1"/>
          <p:nvPr/>
        </p:nvSpPr>
        <p:spPr>
          <a:xfrm>
            <a:off x="125730" y="91440"/>
            <a:ext cx="658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Figure 5a-d – Option 1 - gene set scores with </a:t>
            </a:r>
            <a:r>
              <a:rPr lang="en-US" dirty="0" err="1"/>
              <a:t>ucell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3858D3-D031-C6D1-A5CE-3640F512B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390" y="685800"/>
            <a:ext cx="3657600" cy="274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F13A71-82E8-3CD6-5CBC-F6B9EF001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12" y="685800"/>
            <a:ext cx="36576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E66E8C-FC43-E93E-39A9-0A2A44F43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390" y="3654028"/>
            <a:ext cx="3657600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187E84-E588-E38E-DDA8-F0CFDD334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654028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35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16803-CFF3-6915-70BA-EC2543B88378}"/>
              </a:ext>
            </a:extLst>
          </p:cNvPr>
          <p:cNvSpPr txBox="1"/>
          <p:nvPr/>
        </p:nvSpPr>
        <p:spPr>
          <a:xfrm>
            <a:off x="125730" y="91440"/>
            <a:ext cx="1084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Figure 5e – SUM149PT BH4 gene set score box plots – parental </a:t>
            </a:r>
            <a:r>
              <a:rPr lang="en-US" dirty="0" err="1"/>
              <a:t>droppeds</a:t>
            </a:r>
            <a:r>
              <a:rPr lang="en-US" dirty="0"/>
              <a:t>, stats only show </a:t>
            </a:r>
            <a:r>
              <a:rPr lang="en-US" dirty="0" err="1"/>
              <a:t>vsE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6B86-0384-67B3-680D-8C905E7699CD}"/>
              </a:ext>
            </a:extLst>
          </p:cNvPr>
          <p:cNvSpPr txBox="1"/>
          <p:nvPr/>
        </p:nvSpPr>
        <p:spPr>
          <a:xfrm rot="16200000">
            <a:off x="57150" y="2114550"/>
            <a:ext cx="743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T-test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FC404-9A2C-DEF9-88FD-BCB1B9360527}"/>
              </a:ext>
            </a:extLst>
          </p:cNvPr>
          <p:cNvSpPr txBox="1"/>
          <p:nvPr/>
        </p:nvSpPr>
        <p:spPr>
          <a:xfrm rot="16200000">
            <a:off x="35798" y="5166360"/>
            <a:ext cx="785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anova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DDF1B8-7E81-77FC-3D8A-0FC0832D05DE}"/>
              </a:ext>
            </a:extLst>
          </p:cNvPr>
          <p:cNvSpPr txBox="1"/>
          <p:nvPr/>
        </p:nvSpPr>
        <p:spPr>
          <a:xfrm>
            <a:off x="2269909" y="640176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ssgsea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6E7687-A795-E2BA-DABC-EBDBE0AF8AC9}"/>
              </a:ext>
            </a:extLst>
          </p:cNvPr>
          <p:cNvSpPr txBox="1"/>
          <p:nvPr/>
        </p:nvSpPr>
        <p:spPr>
          <a:xfrm>
            <a:off x="6026191" y="640176"/>
            <a:ext cx="63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gsva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73372-DFB5-F770-F712-340752E404A2}"/>
              </a:ext>
            </a:extLst>
          </p:cNvPr>
          <p:cNvSpPr txBox="1"/>
          <p:nvPr/>
        </p:nvSpPr>
        <p:spPr>
          <a:xfrm>
            <a:off x="9922091" y="640176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ucell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23151C-40CE-D251-1159-622AAC5CB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40" y="1188912"/>
            <a:ext cx="3044952" cy="25374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530113-4B73-A92F-DDFA-0514C040F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785" y="1188912"/>
            <a:ext cx="3044952" cy="25374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864EB1-8C7A-731C-1C82-3AB946D42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576" y="1188912"/>
            <a:ext cx="3044952" cy="25374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AD9089-391D-66F0-2C9F-DD4434D3F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452" y="4208026"/>
            <a:ext cx="2894076" cy="241173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51E0EB-4D77-3EDA-05CF-F492472B0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540" y="4082296"/>
            <a:ext cx="3044952" cy="253746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DCA38D3-668C-C3FF-2E4F-382F7C9FDB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6786" y="4069789"/>
            <a:ext cx="3059960" cy="254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885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A7C684-55E8-3F6D-CEC1-1C8529841DE9}"/>
              </a:ext>
            </a:extLst>
          </p:cNvPr>
          <p:cNvSpPr txBox="1"/>
          <p:nvPr/>
        </p:nvSpPr>
        <p:spPr>
          <a:xfrm>
            <a:off x="125730" y="91440"/>
            <a:ext cx="1041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Figure 5f – SUM149PT BH4 gene expression set score box plots – parental dropped (part1)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C5775-503B-EFF0-9C01-E183C5AB1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44" y="1096913"/>
            <a:ext cx="2825725" cy="2422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BC9461-54BB-7260-0834-323E9A68585E}"/>
              </a:ext>
            </a:extLst>
          </p:cNvPr>
          <p:cNvSpPr txBox="1"/>
          <p:nvPr/>
        </p:nvSpPr>
        <p:spPr>
          <a:xfrm>
            <a:off x="482856" y="656721"/>
            <a:ext cx="3301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 Fold change vs E - heatmap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C22090-7364-CDDB-45DF-8AEB5773A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948" y="1267918"/>
            <a:ext cx="4281423" cy="2446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7CB99D-9E35-5DAA-27CB-CD109BCA3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948" y="4050897"/>
            <a:ext cx="4831354" cy="27607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345C23A-A83E-86E4-D0A3-33DFAAE2C333}"/>
              </a:ext>
            </a:extLst>
          </p:cNvPr>
          <p:cNvSpPr txBox="1"/>
          <p:nvPr/>
        </p:nvSpPr>
        <p:spPr>
          <a:xfrm>
            <a:off x="7683002" y="797224"/>
            <a:ext cx="2315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Gene-level heatmaps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2BB73D-FAA0-FE90-BDE8-77CACDA6B598}"/>
              </a:ext>
            </a:extLst>
          </p:cNvPr>
          <p:cNvSpPr txBox="1"/>
          <p:nvPr/>
        </p:nvSpPr>
        <p:spPr>
          <a:xfrm rot="16200000">
            <a:off x="5813070" y="2372122"/>
            <a:ext cx="93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Z-score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DA3F44-490E-A15A-B701-72ECA736217D}"/>
              </a:ext>
            </a:extLst>
          </p:cNvPr>
          <p:cNvSpPr txBox="1"/>
          <p:nvPr/>
        </p:nvSpPr>
        <p:spPr>
          <a:xfrm rot="16200000">
            <a:off x="5386192" y="5415000"/>
            <a:ext cx="1788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Log2 </a:t>
            </a:r>
            <a:r>
              <a:rPr lang="en-US" dirty="0" err="1"/>
              <a:t>experssion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F3442D-AC74-FDFA-6AE9-024BB4E9A8F6}"/>
              </a:ext>
            </a:extLst>
          </p:cNvPr>
          <p:cNvSpPr txBox="1"/>
          <p:nvPr/>
        </p:nvSpPr>
        <p:spPr>
          <a:xfrm>
            <a:off x="300498" y="3714445"/>
            <a:ext cx="3666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 significant changers indicated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46417-E88A-E846-F073-0D3AACAD0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5988" y="4202406"/>
            <a:ext cx="2867381" cy="245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2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E5F441-AC9F-0E9B-2CDD-943EDF04D9FC}"/>
              </a:ext>
            </a:extLst>
          </p:cNvPr>
          <p:cNvSpPr txBox="1"/>
          <p:nvPr/>
        </p:nvSpPr>
        <p:spPr>
          <a:xfrm>
            <a:off x="125730" y="91440"/>
            <a:ext cx="1041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Extended Data Figure 5f – SUM149PT BH4 gene expression set score box plots – parental dropped (part2)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F698F2-5AD1-0B02-C998-AF619F2A6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1988820"/>
            <a:ext cx="5726430" cy="38176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5C679F-82F0-5C36-A43E-D652C860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8820"/>
            <a:ext cx="5846445" cy="38976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40DB1BB-AF97-E72B-7329-FBD00C5F1A8D}"/>
              </a:ext>
            </a:extLst>
          </p:cNvPr>
          <p:cNvSpPr txBox="1"/>
          <p:nvPr/>
        </p:nvSpPr>
        <p:spPr>
          <a:xfrm>
            <a:off x="3782179" y="670798"/>
            <a:ext cx="310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 charts of gene expression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0577E-FC31-D881-36D5-0C39C29FB79B}"/>
              </a:ext>
            </a:extLst>
          </p:cNvPr>
          <p:cNvSpPr txBox="1"/>
          <p:nvPr/>
        </p:nvSpPr>
        <p:spPr>
          <a:xfrm>
            <a:off x="1324729" y="1505188"/>
            <a:ext cx="104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Z-scores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40535D-C51C-0E79-50F5-D45C3A755536}"/>
              </a:ext>
            </a:extLst>
          </p:cNvPr>
          <p:cNvSpPr txBox="1"/>
          <p:nvPr/>
        </p:nvSpPr>
        <p:spPr>
          <a:xfrm>
            <a:off x="8182729" y="1505188"/>
            <a:ext cx="1788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Log2 expression</a:t>
            </a:r>
          </a:p>
        </p:txBody>
      </p:sp>
    </p:spTree>
    <p:extLst>
      <p:ext uri="{BB962C8B-B14F-4D97-AF65-F5344CB8AC3E}">
        <p14:creationId xmlns:p14="http://schemas.microsoft.com/office/powerpoint/2010/main" val="2080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150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Charlie Whittaker</dc:creator>
  <cp:lastModifiedBy>Charlie Whittaker</cp:lastModifiedBy>
  <cp:revision>5</cp:revision>
  <dcterms:created xsi:type="dcterms:W3CDTF">2026-09-08T10:23:06Z</dcterms:created>
  <dcterms:modified xsi:type="dcterms:W3CDTF">2026-09-08T13:36:01Z</dcterms:modified>
</cp:coreProperties>
</file>