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5"/>
    <p:restoredTop sz="94658"/>
  </p:normalViewPr>
  <p:slideViewPr>
    <p:cSldViewPr snapToGrid="0">
      <p:cViewPr>
        <p:scale>
          <a:sx n="129" d="100"/>
          <a:sy n="129" d="100"/>
        </p:scale>
        <p:origin x="-5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59A7-DE45-5871-C4CB-EFE5A0CE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F9EA-A75B-C099-5679-7DF84B17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A0D2-4DD9-1D2E-440E-3A3A0E1D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50F01-9564-740B-5E5D-DAD0F511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F128-BD31-D46E-E009-EC1C40ED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3F55-F340-BFF9-45A1-8E8317B0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5629-CB86-7DC9-EFAD-E7E76E36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B500-8ADF-030C-9343-3E5AD118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C54B-AB6B-8A60-5EE0-02AF4BE7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18A-BA6D-3607-4868-408FBB4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4DE9-9AA2-883F-E643-D167FB3D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3E21-3372-534B-345C-9A284966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2C92-9F17-9F80-EE56-3A02DFC1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5F58-89FA-F5AA-ADD2-591CC105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EBA5-B915-AFF9-06D9-F76147D9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4451-9EE0-5A36-D893-6953D340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21A-07A8-BA5D-D1EC-EA925E5E8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BADFF-5B94-15AB-55D9-71A679B6A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85FF-A150-A653-C235-8F7DA5AD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9BEA7-4406-B8B0-9984-FB198583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55CF-764B-B9F2-1288-BEE75218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12C9-2431-DE10-4A01-8688E9B6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FBCD-BC02-1FD1-46DE-392FDBF9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4BF11-687E-7284-5854-C28B4B27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46CD-67F6-1601-4F26-DFF434D1D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B62E6-3DEA-D102-EB2C-A9CEAEAA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F6C57-286A-ECA3-EC10-1BE7F571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1E7F2-FA9A-346D-8ADF-7C1702AA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F92D9-1B06-E7F3-28A4-A50D1507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10ED-17B1-CB32-72D1-2CBE5D52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26B5F-23AA-93DC-FD35-B1BAD55B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09460-FB3E-5160-3843-ED26B209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9911-9BB2-BF3E-7A2F-D30FB2D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F4930-2C6C-D555-5306-BFE282D1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3BD50-700E-34DF-8BAA-2B98548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F820-AAF4-5485-EA0A-BD638ABE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FD6B-AE8B-7B59-A410-9E3D8242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35EE-4AE9-A5AC-6EED-51E6760B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A54C2-9F08-87EF-A5D4-5F67DF0B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A82CF-1501-18FB-C3AA-30F6A5BF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7448-9899-C844-75EE-F7D7C73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E554D-DC6E-1358-CBE5-3F0E78C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36B8-84A9-2946-D16B-DFEC8535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DBC81-F4F6-6792-7D60-80DD064FD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4AD8D-8336-D19D-F006-DFC20D50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1727-52A7-96B5-560D-88B5240C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E51C2-9CF9-793C-472E-A8E3D8F4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D9877-96FE-749D-3331-6E90D6E7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CEF-3B8D-1828-9BC8-A70CCF7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9037-43C9-38EC-6A23-CFE57538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1952-D972-6390-5B5C-A00F9EC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0D40-98FE-47A4-AF6D-CDF2AD44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0B15-FE70-2140-D6D1-22E46B7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F837E-5F49-E126-AE5D-39C6188B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B033B-A0F1-AEE6-A578-2CECF481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242C-6422-A5E6-8920-CF0DA7D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28-8B6F-6B9E-86EA-16E5617E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545B-67ED-C0F0-0C28-C698D0C4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F0C50-A5B1-D2B0-49C4-506BC61B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4D5CD-54C7-4E35-6178-98ABAC6C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E0DA-BBEC-5180-74B6-B1C33E50C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9264C-A3A2-0B43-84AD-5B51490C3FE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BD325-0723-A85E-319B-E752D1916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AF0F-6284-8F33-23BF-93EE087F5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0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D2FD-3F18-934B-1E78-D4553CD7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67556-3B68-6D88-8006-6E9AFCC1FE46}"/>
              </a:ext>
            </a:extLst>
          </p:cNvPr>
          <p:cNvSpPr/>
          <p:nvPr/>
        </p:nvSpPr>
        <p:spPr>
          <a:xfrm>
            <a:off x="1126524" y="347019"/>
            <a:ext cx="3262184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67255-844D-E5E1-20AE-950FD8E73B88}"/>
              </a:ext>
            </a:extLst>
          </p:cNvPr>
          <p:cNvSpPr/>
          <p:nvPr/>
        </p:nvSpPr>
        <p:spPr>
          <a:xfrm>
            <a:off x="4429897" y="347019"/>
            <a:ext cx="3171567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53E7CD-65D2-07FB-E26E-B788AC28E6E0}"/>
              </a:ext>
            </a:extLst>
          </p:cNvPr>
          <p:cNvSpPr/>
          <p:nvPr/>
        </p:nvSpPr>
        <p:spPr>
          <a:xfrm>
            <a:off x="7663250" y="347019"/>
            <a:ext cx="3068594" cy="2039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723CC-7F75-9B32-2191-4508BBEF678E}"/>
              </a:ext>
            </a:extLst>
          </p:cNvPr>
          <p:cNvSpPr/>
          <p:nvPr/>
        </p:nvSpPr>
        <p:spPr>
          <a:xfrm>
            <a:off x="1126524" y="2422954"/>
            <a:ext cx="3237132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0CD90-A046-4D4E-F9C2-FF81D2E717CC}"/>
              </a:ext>
            </a:extLst>
          </p:cNvPr>
          <p:cNvSpPr/>
          <p:nvPr/>
        </p:nvSpPr>
        <p:spPr>
          <a:xfrm>
            <a:off x="4418688" y="2434528"/>
            <a:ext cx="3174304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7980A-5D6E-5E30-D2A4-A8F53517D665}"/>
              </a:ext>
            </a:extLst>
          </p:cNvPr>
          <p:cNvSpPr/>
          <p:nvPr/>
        </p:nvSpPr>
        <p:spPr>
          <a:xfrm>
            <a:off x="7681081" y="2422954"/>
            <a:ext cx="3037076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0C2B8-56FC-D93C-A0DC-374C1CCD4493}"/>
              </a:ext>
            </a:extLst>
          </p:cNvPr>
          <p:cNvSpPr/>
          <p:nvPr/>
        </p:nvSpPr>
        <p:spPr>
          <a:xfrm>
            <a:off x="1145797" y="4471047"/>
            <a:ext cx="3217859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34879-DF5F-ECAB-8066-9E7DE4F60853}"/>
              </a:ext>
            </a:extLst>
          </p:cNvPr>
          <p:cNvSpPr/>
          <p:nvPr/>
        </p:nvSpPr>
        <p:spPr>
          <a:xfrm>
            <a:off x="4450874" y="4471831"/>
            <a:ext cx="3165268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45701-FF03-AB9D-82D8-72162E356E88}"/>
              </a:ext>
            </a:extLst>
          </p:cNvPr>
          <p:cNvSpPr/>
          <p:nvPr/>
        </p:nvSpPr>
        <p:spPr>
          <a:xfrm>
            <a:off x="7685591" y="4479403"/>
            <a:ext cx="3046254" cy="1967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3B0613-6EE2-F50F-E759-A99423DEB2E5}"/>
              </a:ext>
            </a:extLst>
          </p:cNvPr>
          <p:cNvCxnSpPr>
            <a:cxnSpLocks/>
          </p:cNvCxnSpPr>
          <p:nvPr/>
        </p:nvCxnSpPr>
        <p:spPr>
          <a:xfrm flipV="1">
            <a:off x="4859079" y="637953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19F7A5-6322-AE98-CF4E-BD6FC9CF393B}"/>
              </a:ext>
            </a:extLst>
          </p:cNvPr>
          <p:cNvSpPr txBox="1"/>
          <p:nvPr/>
        </p:nvSpPr>
        <p:spPr>
          <a:xfrm>
            <a:off x="5081182" y="382772"/>
            <a:ext cx="1911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(source et al?)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3EB00-B38F-0AA3-5582-3CA43EA93B6E}"/>
              </a:ext>
            </a:extLst>
          </p:cNvPr>
          <p:cNvSpPr txBox="1"/>
          <p:nvPr/>
        </p:nvSpPr>
        <p:spPr>
          <a:xfrm>
            <a:off x="4419055" y="33492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F68A01-D7CD-46DB-49F8-E347DBD9FFB3}"/>
              </a:ext>
            </a:extLst>
          </p:cNvPr>
          <p:cNvGrpSpPr/>
          <p:nvPr/>
        </p:nvGrpSpPr>
        <p:grpSpPr>
          <a:xfrm>
            <a:off x="4568618" y="738068"/>
            <a:ext cx="2620831" cy="1500611"/>
            <a:chOff x="4568618" y="738068"/>
            <a:chExt cx="2620831" cy="1500611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44E28B4-1D41-6A95-4D21-4C6604833365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98" y="1833979"/>
              <a:ext cx="2346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245D119-264F-E0A2-4395-BB37BD780A26}"/>
                </a:ext>
              </a:extLst>
            </p:cNvPr>
            <p:cNvSpPr/>
            <p:nvPr/>
          </p:nvSpPr>
          <p:spPr>
            <a:xfrm>
              <a:off x="4982992" y="1198003"/>
              <a:ext cx="606054" cy="2232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693A8F-88C9-41FC-BE84-B82F8AD9B4E9}"/>
                </a:ext>
              </a:extLst>
            </p:cNvPr>
            <p:cNvSpPr/>
            <p:nvPr/>
          </p:nvSpPr>
          <p:spPr>
            <a:xfrm>
              <a:off x="5654955" y="1325867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CF7B1C-A8FB-64FB-7472-B3A834E5A09F}"/>
                </a:ext>
              </a:extLst>
            </p:cNvPr>
            <p:cNvSpPr/>
            <p:nvPr/>
          </p:nvSpPr>
          <p:spPr>
            <a:xfrm>
              <a:off x="6293590" y="1465386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413F8A-3062-08D2-9B62-E9B401B9E075}"/>
                </a:ext>
              </a:extLst>
            </p:cNvPr>
            <p:cNvSpPr txBox="1"/>
            <p:nvPr/>
          </p:nvSpPr>
          <p:spPr>
            <a:xfrm rot="16200000">
              <a:off x="4054375" y="125231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4AE730-00B6-566A-E8DF-E1FD17679CE4}"/>
                </a:ext>
              </a:extLst>
            </p:cNvPr>
            <p:cNvSpPr txBox="1"/>
            <p:nvPr/>
          </p:nvSpPr>
          <p:spPr>
            <a:xfrm>
              <a:off x="4919464" y="182880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Epithelial</a:t>
              </a:r>
            </a:p>
            <a:p>
              <a:pPr algn="ctr"/>
              <a:r>
                <a:rPr lang="en-US" sz="1000" dirty="0"/>
                <a:t>(E)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B8A285-9DCD-C6A8-0F45-EF1792F24C17}"/>
                </a:ext>
              </a:extLst>
            </p:cNvPr>
            <p:cNvSpPr txBox="1"/>
            <p:nvPr/>
          </p:nvSpPr>
          <p:spPr>
            <a:xfrm>
              <a:off x="5693129" y="1822939"/>
              <a:ext cx="5517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Hybrid</a:t>
              </a:r>
            </a:p>
            <a:p>
              <a:pPr algn="ctr"/>
              <a:r>
                <a:rPr lang="en-US" sz="1000" dirty="0"/>
                <a:t>(E/M)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290343-97BD-6BCB-E2B0-D05DBB5CE519}"/>
                </a:ext>
              </a:extLst>
            </p:cNvPr>
            <p:cNvSpPr txBox="1"/>
            <p:nvPr/>
          </p:nvSpPr>
          <p:spPr>
            <a:xfrm>
              <a:off x="6168685" y="1838569"/>
              <a:ext cx="9605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  <a:p>
              <a:pPr algn="ctr"/>
              <a:r>
                <a:rPr lang="en-US" sz="1000" dirty="0"/>
                <a:t>(M)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07C3F17-498D-E5D2-3E27-ECA6F6AF5572}"/>
              </a:ext>
            </a:extLst>
          </p:cNvPr>
          <p:cNvSpPr txBox="1"/>
          <p:nvPr/>
        </p:nvSpPr>
        <p:spPr>
          <a:xfrm>
            <a:off x="7951382" y="382772"/>
            <a:ext cx="2481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TCGA bulk RNA-seq</a:t>
            </a:r>
          </a:p>
          <a:p>
            <a:pPr algn="ctr"/>
            <a:r>
              <a:rPr lang="en-US" sz="1200" dirty="0"/>
              <a:t>(source et al?)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A25BE5-12FB-A941-954B-784C27C1EC25}"/>
              </a:ext>
            </a:extLst>
          </p:cNvPr>
          <p:cNvGrpSpPr/>
          <p:nvPr/>
        </p:nvGrpSpPr>
        <p:grpSpPr>
          <a:xfrm>
            <a:off x="7845218" y="712668"/>
            <a:ext cx="2620831" cy="1500611"/>
            <a:chOff x="4568618" y="738068"/>
            <a:chExt cx="2620831" cy="150061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607AF46-BF95-653F-1AD9-3FDA5361BDEC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98" y="1833979"/>
              <a:ext cx="2346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C2FFE5-D992-C284-8362-82F06B03676C}"/>
                </a:ext>
              </a:extLst>
            </p:cNvPr>
            <p:cNvSpPr/>
            <p:nvPr/>
          </p:nvSpPr>
          <p:spPr>
            <a:xfrm>
              <a:off x="4982992" y="1198003"/>
              <a:ext cx="606054" cy="2232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D54D2F-30B3-53D3-2BBC-510D36EEAF48}"/>
                </a:ext>
              </a:extLst>
            </p:cNvPr>
            <p:cNvSpPr/>
            <p:nvPr/>
          </p:nvSpPr>
          <p:spPr>
            <a:xfrm>
              <a:off x="5654955" y="1325867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D1766AC-0129-6757-136C-C216275311D3}"/>
                </a:ext>
              </a:extLst>
            </p:cNvPr>
            <p:cNvSpPr/>
            <p:nvPr/>
          </p:nvSpPr>
          <p:spPr>
            <a:xfrm>
              <a:off x="6293590" y="1465386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9E5A21-CEC8-EA4E-6717-83238F072971}"/>
                </a:ext>
              </a:extLst>
            </p:cNvPr>
            <p:cNvSpPr txBox="1"/>
            <p:nvPr/>
          </p:nvSpPr>
          <p:spPr>
            <a:xfrm rot="16200000">
              <a:off x="4054375" y="125231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237654-1F3F-123F-8954-1584F7AA56AF}"/>
                </a:ext>
              </a:extLst>
            </p:cNvPr>
            <p:cNvSpPr txBox="1"/>
            <p:nvPr/>
          </p:nvSpPr>
          <p:spPr>
            <a:xfrm>
              <a:off x="4919464" y="182880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Epithelial</a:t>
              </a:r>
            </a:p>
            <a:p>
              <a:pPr algn="ctr"/>
              <a:r>
                <a:rPr lang="en-US" sz="1000" dirty="0"/>
                <a:t>(E)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91D84D-AC67-B1D0-2933-8C8D518009AB}"/>
                </a:ext>
              </a:extLst>
            </p:cNvPr>
            <p:cNvSpPr txBox="1"/>
            <p:nvPr/>
          </p:nvSpPr>
          <p:spPr>
            <a:xfrm>
              <a:off x="5693129" y="1822939"/>
              <a:ext cx="5517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Hybrid</a:t>
              </a:r>
            </a:p>
            <a:p>
              <a:pPr algn="ctr"/>
              <a:r>
                <a:rPr lang="en-US" sz="1000" dirty="0"/>
                <a:t>(E/M)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12EC54-2308-7501-FF84-465032F24A1D}"/>
                </a:ext>
              </a:extLst>
            </p:cNvPr>
            <p:cNvSpPr txBox="1"/>
            <p:nvPr/>
          </p:nvSpPr>
          <p:spPr>
            <a:xfrm>
              <a:off x="6168685" y="1838569"/>
              <a:ext cx="9605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  <a:p>
              <a:pPr algn="ctr"/>
              <a:r>
                <a:rPr lang="en-US" sz="1000" dirty="0"/>
                <a:t>(M)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2D75901-3A3A-A196-C349-BE060A844158}"/>
              </a:ext>
            </a:extLst>
          </p:cNvPr>
          <p:cNvSpPr txBox="1"/>
          <p:nvPr/>
        </p:nvSpPr>
        <p:spPr>
          <a:xfrm>
            <a:off x="7959257" y="4467596"/>
            <a:ext cx="2852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2 – Beale et al 2025 / Treehouse dataset)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83F690-CA5C-C508-62AA-F289F8F3B0D5}"/>
              </a:ext>
            </a:extLst>
          </p:cNvPr>
          <p:cNvSpPr txBox="1"/>
          <p:nvPr/>
        </p:nvSpPr>
        <p:spPr>
          <a:xfrm>
            <a:off x="4809609" y="4467596"/>
            <a:ext cx="26180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1 – Su et al 2015 / SEQC NB dataset)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B5AF74-D6A1-0532-F625-C1E4804EB95B}"/>
              </a:ext>
            </a:extLst>
          </p:cNvPr>
          <p:cNvSpPr txBox="1"/>
          <p:nvPr/>
        </p:nvSpPr>
        <p:spPr>
          <a:xfrm>
            <a:off x="1165388" y="4507352"/>
            <a:ext cx="3283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melanoma TCGA bulk</a:t>
            </a:r>
          </a:p>
          <a:p>
            <a:pPr algn="ctr"/>
            <a:r>
              <a:rPr lang="en-US" sz="1000" dirty="0"/>
              <a:t>(using 4-state trajectory from Tsoi 2018;PMID 29657129)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C8F9A89-9B8A-5561-6EC0-EF23B03F1735}"/>
              </a:ext>
            </a:extLst>
          </p:cNvPr>
          <p:cNvCxnSpPr/>
          <p:nvPr/>
        </p:nvCxnSpPr>
        <p:spPr>
          <a:xfrm>
            <a:off x="1691149" y="1130710"/>
            <a:ext cx="2290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F585B6E-FBB9-063B-979B-B262EA7E0E5C}"/>
              </a:ext>
            </a:extLst>
          </p:cNvPr>
          <p:cNvSpPr txBox="1"/>
          <p:nvPr/>
        </p:nvSpPr>
        <p:spPr>
          <a:xfrm>
            <a:off x="1268418" y="67842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Differentiated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FF68E14-0A76-570F-52FF-DB05399F5022}"/>
              </a:ext>
            </a:extLst>
          </p:cNvPr>
          <p:cNvSpPr txBox="1"/>
          <p:nvPr/>
        </p:nvSpPr>
        <p:spPr>
          <a:xfrm>
            <a:off x="2074895" y="575189"/>
            <a:ext cx="123783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Intermediate</a:t>
            </a:r>
          </a:p>
          <a:p>
            <a:pPr algn="ctr"/>
            <a:r>
              <a:rPr lang="en-US" sz="900" dirty="0"/>
              <a:t>Plasticity associated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D3A06B-DB3F-2D2B-BBE8-AA32FAA94424}"/>
              </a:ext>
            </a:extLst>
          </p:cNvPr>
          <p:cNvSpPr txBox="1"/>
          <p:nvPr/>
        </p:nvSpPr>
        <p:spPr>
          <a:xfrm>
            <a:off x="3209101" y="596417"/>
            <a:ext cx="11063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Dedifferentiated /</a:t>
            </a:r>
          </a:p>
          <a:p>
            <a:pPr algn="ctr"/>
            <a:r>
              <a:rPr lang="en-US" sz="900" dirty="0"/>
              <a:t>mesenchymal-like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A6D2B7-58FE-97E0-CA56-400053079469}"/>
              </a:ext>
            </a:extLst>
          </p:cNvPr>
          <p:cNvSpPr txBox="1"/>
          <p:nvPr/>
        </p:nvSpPr>
        <p:spPr>
          <a:xfrm>
            <a:off x="1801502" y="125852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BH4 pathway transcriptional score</a:t>
            </a:r>
          </a:p>
          <a:p>
            <a:pPr algn="ctr"/>
            <a:r>
              <a:rPr lang="en-US" sz="800" dirty="0"/>
              <a:t>(de novo synthesis &amp; recycling genes)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1E7AB3-673A-5E75-D7A9-51EEE04CEBA1}"/>
              </a:ext>
            </a:extLst>
          </p:cNvPr>
          <p:cNvSpPr txBox="1"/>
          <p:nvPr/>
        </p:nvSpPr>
        <p:spPr>
          <a:xfrm>
            <a:off x="1348149" y="170098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Human </a:t>
            </a:r>
            <a:r>
              <a:rPr lang="en-US" sz="900" dirty="0" err="1"/>
              <a:t>scRNA</a:t>
            </a:r>
            <a:r>
              <a:rPr lang="en-US" sz="900" dirty="0"/>
              <a:t>-seq &amp; bulk transcriptomic data analysis</a:t>
            </a:r>
          </a:p>
          <a:p>
            <a:pPr algn="ctr"/>
            <a:r>
              <a:rPr lang="en-US" sz="900" dirty="0"/>
              <a:t>Breast | PDAC | Melanoma | Neuroblastoma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F9C139E-439E-32AC-584B-8ED1842F75A9}"/>
              </a:ext>
            </a:extLst>
          </p:cNvPr>
          <p:cNvSpPr/>
          <p:nvPr/>
        </p:nvSpPr>
        <p:spPr>
          <a:xfrm>
            <a:off x="1396181" y="1710813"/>
            <a:ext cx="2831690" cy="383458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CA700C-EECA-9F1B-D292-37AD7E0DEBCF}"/>
              </a:ext>
            </a:extLst>
          </p:cNvPr>
          <p:cNvSpPr txBox="1"/>
          <p:nvPr/>
        </p:nvSpPr>
        <p:spPr>
          <a:xfrm>
            <a:off x="1133988" y="35185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A5AB039-2D88-9AB8-B348-C9A2D24C42A4}"/>
              </a:ext>
            </a:extLst>
          </p:cNvPr>
          <p:cNvSpPr txBox="1"/>
          <p:nvPr/>
        </p:nvSpPr>
        <p:spPr>
          <a:xfrm>
            <a:off x="7636388" y="31799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9295C23-6C72-07F7-6E39-D0DDA51A5B16}"/>
              </a:ext>
            </a:extLst>
          </p:cNvPr>
          <p:cNvSpPr txBox="1"/>
          <p:nvPr/>
        </p:nvSpPr>
        <p:spPr>
          <a:xfrm>
            <a:off x="1117055" y="24092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947DC04-17EA-7CCB-F682-A129477CA1EF}"/>
              </a:ext>
            </a:extLst>
          </p:cNvPr>
          <p:cNvSpPr txBox="1"/>
          <p:nvPr/>
        </p:nvSpPr>
        <p:spPr>
          <a:xfrm>
            <a:off x="4418733" y="24355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5D26E97-9AA4-A1F5-CF70-4E39D8E15569}"/>
              </a:ext>
            </a:extLst>
          </p:cNvPr>
          <p:cNvSpPr txBox="1"/>
          <p:nvPr/>
        </p:nvSpPr>
        <p:spPr>
          <a:xfrm>
            <a:off x="7682366" y="24448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9409089-5513-992F-0BA8-9451F708BF0F}"/>
              </a:ext>
            </a:extLst>
          </p:cNvPr>
          <p:cNvSpPr txBox="1"/>
          <p:nvPr/>
        </p:nvSpPr>
        <p:spPr>
          <a:xfrm>
            <a:off x="1156923" y="444522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2B0DCA-9EC4-1D2D-212C-08A6732E77FE}"/>
              </a:ext>
            </a:extLst>
          </p:cNvPr>
          <p:cNvSpPr txBox="1"/>
          <p:nvPr/>
        </p:nvSpPr>
        <p:spPr>
          <a:xfrm>
            <a:off x="4428232" y="445211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BE765-4337-492B-33A6-938E85E4DA0E}"/>
              </a:ext>
            </a:extLst>
          </p:cNvPr>
          <p:cNvSpPr txBox="1"/>
          <p:nvPr/>
        </p:nvSpPr>
        <p:spPr>
          <a:xfrm>
            <a:off x="7670731" y="4486249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A70F44A-DBA0-AAAC-F85A-745C19420A50}"/>
              </a:ext>
            </a:extLst>
          </p:cNvPr>
          <p:cNvCxnSpPr>
            <a:cxnSpLocks/>
          </p:cNvCxnSpPr>
          <p:nvPr/>
        </p:nvCxnSpPr>
        <p:spPr>
          <a:xfrm flipV="1">
            <a:off x="8128752" y="748145"/>
            <a:ext cx="0" cy="1063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1CD298C-CBBD-D4BD-8038-EA0AAF151E2B}"/>
              </a:ext>
            </a:extLst>
          </p:cNvPr>
          <p:cNvGrpSpPr/>
          <p:nvPr/>
        </p:nvGrpSpPr>
        <p:grpSpPr>
          <a:xfrm>
            <a:off x="1268418" y="2412251"/>
            <a:ext cx="3300200" cy="1946603"/>
            <a:chOff x="886453" y="2409665"/>
            <a:chExt cx="3300200" cy="1946603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8362C7A-4DB5-20F3-1822-D52CBE00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0456" y="3403620"/>
              <a:ext cx="1348085" cy="952648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841D183-2794-6DDA-8579-6379EF8DFBB5}"/>
                </a:ext>
              </a:extLst>
            </p:cNvPr>
            <p:cNvSpPr txBox="1"/>
            <p:nvPr/>
          </p:nvSpPr>
          <p:spPr>
            <a:xfrm>
              <a:off x="886453" y="2409665"/>
              <a:ext cx="3300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Autochthonous KPCT PDAC  </a:t>
              </a:r>
              <a:r>
                <a:rPr lang="en-US" sz="1200" dirty="0" err="1"/>
                <a:t>scRNA</a:t>
              </a:r>
              <a:r>
                <a:rPr lang="en-US" sz="1200" dirty="0"/>
                <a:t>-seq</a:t>
              </a:r>
            </a:p>
            <a:p>
              <a:pPr algn="ctr"/>
              <a:r>
                <a:rPr lang="en-US" sz="1000" dirty="0"/>
                <a:t>(Pitter et al 2022; PMID 35952360)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0CF602B-1FB2-3C79-B4A2-5DDE351B4CAE}"/>
              </a:ext>
            </a:extLst>
          </p:cNvPr>
          <p:cNvSpPr txBox="1"/>
          <p:nvPr/>
        </p:nvSpPr>
        <p:spPr>
          <a:xfrm>
            <a:off x="81023" y="127322"/>
            <a:ext cx="70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EC936B-20B5-5182-7F34-58D031927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471" y="2879677"/>
            <a:ext cx="1478953" cy="148808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5AC0AE6-0AC4-D30D-D78F-83649E971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320" y="2922613"/>
            <a:ext cx="406573" cy="75770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F779ECA-676B-E552-1227-CA1655FE3331}"/>
              </a:ext>
            </a:extLst>
          </p:cNvPr>
          <p:cNvSpPr txBox="1"/>
          <p:nvPr/>
        </p:nvSpPr>
        <p:spPr>
          <a:xfrm>
            <a:off x="4905496" y="2412251"/>
            <a:ext cx="22177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Mouse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000" dirty="0"/>
              <a:t>(Pitter et al 2022; PMID 35952360)</a:t>
            </a:r>
          </a:p>
          <a:p>
            <a:pPr algn="ctr"/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E5DB949-29ED-D156-CDA0-788C7DE3E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285" y="2804848"/>
            <a:ext cx="2286315" cy="15629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B012DA8-49A4-78ED-AFC0-2303AB6EBCC4}"/>
              </a:ext>
            </a:extLst>
          </p:cNvPr>
          <p:cNvSpPr txBox="1"/>
          <p:nvPr/>
        </p:nvSpPr>
        <p:spPr>
          <a:xfrm>
            <a:off x="7991749" y="2412251"/>
            <a:ext cx="25464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Human primary PDAC </a:t>
            </a:r>
            <a:r>
              <a:rPr lang="en-US" sz="1200" dirty="0" err="1"/>
              <a:t>scRNA</a:t>
            </a:r>
            <a:r>
              <a:rPr lang="en-US" sz="1200" dirty="0"/>
              <a:t>-seq </a:t>
            </a:r>
          </a:p>
          <a:p>
            <a:pPr algn="ctr"/>
            <a:r>
              <a:rPr lang="en-US" sz="1000" dirty="0"/>
              <a:t>(Cohort 1 – Lin et al 2020; PMID 32988401)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118703-9EE8-94CA-0D0C-3433F2332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926" y="2804848"/>
            <a:ext cx="2150950" cy="155758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178C28F-23B8-CC7E-1347-83CA8BD915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685" y="4931334"/>
            <a:ext cx="2089627" cy="147330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0490943-A107-4447-6BF7-B386A0875C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7547" y="4906078"/>
            <a:ext cx="1524364" cy="15243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88F22D54-589D-AE8A-0FA4-E0439F9693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409" y="4866838"/>
            <a:ext cx="1583501" cy="154799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FEEE6136-716B-780F-983F-188FC75697A3}"/>
              </a:ext>
            </a:extLst>
          </p:cNvPr>
          <p:cNvSpPr txBox="1"/>
          <p:nvPr/>
        </p:nvSpPr>
        <p:spPr>
          <a:xfrm>
            <a:off x="9699913" y="544945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221 samples</a:t>
            </a:r>
            <a:endParaRPr 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97641D-821B-5164-CD4D-0AFB49FB2A8D}"/>
              </a:ext>
            </a:extLst>
          </p:cNvPr>
          <p:cNvSpPr txBox="1"/>
          <p:nvPr/>
        </p:nvSpPr>
        <p:spPr>
          <a:xfrm>
            <a:off x="6620382" y="5396904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498 samples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352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198</Words>
  <Application>Microsoft Macintosh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Evelyn Tong</cp:lastModifiedBy>
  <cp:revision>15</cp:revision>
  <dcterms:created xsi:type="dcterms:W3CDTF">2026-08-13T00:02:20Z</dcterms:created>
  <dcterms:modified xsi:type="dcterms:W3CDTF">2026-08-31T18:18:26Z</dcterms:modified>
</cp:coreProperties>
</file>